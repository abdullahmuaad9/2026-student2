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4400" b="1">
                <a:solidFill>
                  <a:srgbClr val="FFFFFF"/>
                </a:solidFill>
                <a:latin typeface="Arial"/>
              </a:defRPr>
            </a:pPr>
            <a:r>
              <a:t>معالجة الصور الرقمية</a:t>
            </a:r>
          </a:p>
          <a:p>
            <a:pPr algn="r">
              <a:defRPr sz="2400">
                <a:solidFill>
                  <a:srgbClr val="BEE1E6"/>
                </a:solidFill>
                <a:latin typeface="Arial"/>
              </a:defRPr>
            </a:pPr>
            <a:r>
              <a:t>الفصل الأول — مقدمة مختصرة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>
                <a:solidFill>
                  <a:srgbClr val="FFFFFF"/>
                </a:solidFill>
                <a:latin typeface="Arial"/>
              </a:defRPr>
            </a:pPr>
            <a:r>
              <a:t>عرض موجز لأهم المفاهيم والمجالات والتطبيقات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ما هي معالجة الصور الرقمية؟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الصورة الرقمية تمثَّل بدالة ثنائية البعد f(x,y)، حيث تعبّر القيمة عن شدة الإضاءة أو المستوى الرمادي.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تتكون الصورة من عدد محدود من العناصر يسمى كل عنصر منها «بكسل».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معالجة الصور الرقمية هي التعامل مع الصور بواسطة الحاسوب لتحسينها أو استخراج المعلومات منها.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ترتبط بمجالات مثل الرؤية الحاسوبية وتحليل الصور والتعرف على الأنماط.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لماذا نستخدم معالجة الصور؟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33087" y="1828800"/>
            <a:ext cx="73152" cy="16002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تحسين الصور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تقليل الضوضاء، زيادة التباين، وتحسين الوضوح.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90688" y="1828800"/>
            <a:ext cx="73152" cy="16002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استخراج المعلومات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تحليل محتوى الصورة والتعرف على الأشكال والخصائص.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48288" y="1828800"/>
            <a:ext cx="73152" cy="16002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التخزين والنقل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تجهيز الصور للعرض والإرسال والمعالجة الرقمية.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840480"/>
            <a:ext cx="347472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1888" y="3840480"/>
            <a:ext cx="73152" cy="1600200"/>
          </a:xfrm>
          <a:prstGeom prst="rect">
            <a:avLst/>
          </a:prstGeom>
          <a:solidFill>
            <a:srgbClr val="12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400507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تطور الحاسوب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ساهم تطور الذاكرة والمعالجات والتخزين في انتشار معالجة الصور.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3474720" cy="16002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9488" y="3840480"/>
            <a:ext cx="73152" cy="1600200"/>
          </a:xfrm>
          <a:prstGeom prst="rect">
            <a:avLst/>
          </a:prstGeom>
          <a:solidFill>
            <a:srgbClr val="12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005072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من الطباعة إلى الفضاء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بدأت تطبيقات مبكرة في نقل الصور وتحسينها، ثم توسعت إلى التصوير الفضائي والطبي.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أهم مجالات استخدام معالجة الصور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6459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33087" y="1828800"/>
            <a:ext cx="73152" cy="164592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التصوير الطبي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الأشعة السينية، التصوير المقطعي، والتصوير الشعاعي الرقمي.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474720" cy="16459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90688" y="1828800"/>
            <a:ext cx="73152" cy="164592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الاستشعار عن بُعد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صور الأقمار الصناعية ومراقبة سطح الأرض والبيئة.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474720" cy="16459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48288" y="1828800"/>
            <a:ext cx="73152" cy="164592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الصناعة والمواد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فحص المواد والدوائر الإلكترونية والأسطح المجهرية.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886200"/>
            <a:ext cx="3474720" cy="16459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1888" y="3886200"/>
            <a:ext cx="73152" cy="164592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4050791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العلوم والفضاء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تحليل الصور الفلكية والبيانات الناتجة من المركبات والأقمار.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86200"/>
            <a:ext cx="3474720" cy="16459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19488" y="3886200"/>
            <a:ext cx="73152" cy="164592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4050791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الأمن والاتصالات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تحسين الصور ونقل البيانات واستخدامها في تطبيقات المراقبة.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الصورة ومجال الطيف الكهرومغناطيسي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يمكن تكوين الصور باستخدام مصادر مختلفة من الطيف الكهرومغناطيسي.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من أمثلته: أشعة جاما، الأشعة السينية، فوق البنفسجية، الضوء المرئي، تحت الحمراء، الميكروويف وموجات الراديو.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اختيار النطاق المناسب يعتمد على طبيعة التطبيق والمعلومات المطلوب استخراجها.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2148840"/>
            <a:ext cx="4572000" cy="32004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جاما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2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سينية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فوق بنفسجية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مرئي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8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تحت الحمراء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0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ميكروويف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26517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32D34"/>
                </a:solidFill>
                <a:latin typeface="Arial"/>
              </a:defRPr>
            </a:pPr>
            <a:r>
              <a:t>راديو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التصوير الطبي: مثال رئيسي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53035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تُستخدم الأشعة السينية في تشخيص الأجسام والأنسجة.</a:t>
            </a:r>
          </a:p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التصوير المقطعي المحوسب (CT) ينتج صورًا مقطعية دقيقة من بيانات الأشعة.</a:t>
            </a:r>
          </a:p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تساعد المعالجة الرقمية على تحسين الصور ودعم اكتشاف الأمراض ووضع الخطط العلاجية.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التصوير فوق البنفسجي والفلوري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12080" cy="18288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70448" y="1828800"/>
            <a:ext cx="73152" cy="18288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الأشعة فوق البنفسجية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تُستخدم في فحص المواد والمجاهر الصناعية، وتطبيقات الكشف والتحليل.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182880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356848" y="1828800"/>
            <a:ext cx="73152" cy="1828800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المجهر الفلوري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يُستخدم لدراسة المواد والأنسجة، ويمكنه إظهار خصائص لا تظهر بسهولة بالضوء العادي.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160520"/>
            <a:ext cx="8412480" cy="1417320"/>
          </a:xfrm>
          <a:prstGeom prst="roundRect">
            <a:avLst/>
          </a:prstGeom>
          <a:solidFill>
            <a:srgbClr val="F2F7F8"/>
          </a:solidFill>
          <a:ln>
            <a:solidFill>
              <a:srgbClr val="DC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259567" y="4160520"/>
            <a:ext cx="73152" cy="1417320"/>
          </a:xfrm>
          <a:prstGeom prst="rect">
            <a:avLst/>
          </a:prstGeom>
          <a:solidFill>
            <a:srgbClr val="12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1408" y="4325112"/>
            <a:ext cx="8046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12364D"/>
                </a:solidFill>
                <a:latin typeface="Arial"/>
              </a:defRPr>
            </a:pPr>
            <a:r>
              <a:t>الفكرة الأساسية</a:t>
            </a:r>
          </a:p>
          <a:p>
            <a:pPr algn="r">
              <a:spcBef>
                <a:spcPts val="800"/>
              </a:spcBef>
              <a:defRPr sz="1500">
                <a:solidFill>
                  <a:srgbClr val="232D34"/>
                </a:solidFill>
                <a:latin typeface="Arial"/>
              </a:defRPr>
            </a:pPr>
            <a:r>
              <a:t>اختيار نوع الإشعاع أو الضوء المناسب يجعل خصائص معينة في الجسم أو المادة أكثر وضوحًا.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الاستشعار عن بُعد وصور الأقمار الصناعية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4937760" cy="37490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توفر الصور الفضائية معلومات واسعة عن سطح الأرض والبيئة.</a:t>
            </a:r>
          </a:p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تُستخدم في تحليل الغطاء النباتي، الظواهر المناخية، وتخطيط المدن وإدارة الموارد.</a:t>
            </a:r>
          </a:p>
          <a:p>
            <a:pPr algn="r">
              <a:spcAft>
                <a:spcPts val="1300"/>
              </a:spcAft>
              <a:defRPr sz="1800">
                <a:solidFill>
                  <a:srgbClr val="232D34"/>
                </a:solidFill>
                <a:latin typeface="Arial"/>
              </a:defRPr>
            </a:pPr>
            <a:r>
              <a:t>تساعد معالجة الصور على استخراج أنماط ومعلومات يصعب ملاحظتها مباشرة.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أمثلة تطبيقية إضافية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02920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6596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خرائط المدن والطرق ومراقبة التغيرات على سطح الأرض.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تحليل صور الأقمار الصناعية باستخدام نطاقات طيفية مختلفة.</a:t>
            </a:r>
          </a:p>
          <a:p>
            <a:pPr algn="r">
              <a:spcAft>
                <a:spcPts val="1300"/>
              </a:spcAft>
              <a:defRPr sz="1900">
                <a:solidFill>
                  <a:srgbClr val="232D34"/>
                </a:solidFill>
                <a:latin typeface="Arial"/>
              </a:defRPr>
            </a:pPr>
            <a:r>
              <a:t>تحسين الصور الرقمية وإبراز التفاصيل المفيدة للمستخدم.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800" b="1">
                <a:solidFill>
                  <a:srgbClr val="12364D"/>
                </a:solidFill>
                <a:latin typeface="Arial"/>
              </a:defRPr>
            </a:pPr>
            <a:r>
              <a:t>الخلاصة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81328"/>
            <a:ext cx="1828800" cy="73152"/>
          </a:xfrm>
          <a:prstGeom prst="rect">
            <a:avLst/>
          </a:prstGeom>
          <a:solidFill>
            <a:srgbClr val="008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300"/>
              </a:spcAft>
              <a:defRPr sz="2100">
                <a:solidFill>
                  <a:srgbClr val="232D34"/>
                </a:solidFill>
                <a:latin typeface="Arial"/>
              </a:defRPr>
            </a:pPr>
            <a:r>
              <a:t>معالجة الصور الرقمية تجمع بين تمثيل الصورة بالحاسوب وتحسينها وتحليلها.</a:t>
            </a:r>
          </a:p>
          <a:p>
            <a:pPr algn="r">
              <a:spcAft>
                <a:spcPts val="1300"/>
              </a:spcAft>
              <a:defRPr sz="2100">
                <a:solidFill>
                  <a:srgbClr val="232D34"/>
                </a:solidFill>
                <a:latin typeface="Arial"/>
              </a:defRPr>
            </a:pPr>
            <a:r>
              <a:t>تطورت مع تطور الحواسيب وأصبحت أساسية في مجالات متعددة.</a:t>
            </a:r>
          </a:p>
          <a:p>
            <a:pPr algn="r">
              <a:spcAft>
                <a:spcPts val="1300"/>
              </a:spcAft>
              <a:defRPr sz="2100">
                <a:solidFill>
                  <a:srgbClr val="232D34"/>
                </a:solidFill>
                <a:latin typeface="Arial"/>
              </a:defRPr>
            </a:pPr>
            <a:r>
              <a:t>أبرز التطبيقات: التصوير الطبي، الصناعة، العلوم، الاستشعار عن بُعد، والفضاء.</a:t>
            </a:r>
          </a:p>
          <a:p>
            <a:pPr algn="r">
              <a:spcAft>
                <a:spcPts val="1300"/>
              </a:spcAft>
              <a:defRPr sz="2100">
                <a:solidFill>
                  <a:srgbClr val="232D34"/>
                </a:solidFill>
                <a:latin typeface="Arial"/>
              </a:defRPr>
            </a:pPr>
            <a:r>
              <a:t>اختيار طريقة المعالجة يعتمد على نوع الصورة والهدف من استخدامها.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A6970"/>
                </a:solidFill>
                <a:latin typeface="Arial"/>
              </a:defRPr>
            </a:pPr>
            <a:r>
              <a:t>المصدر: الفصل الأول من ملف «معالجة الصور شابتر١»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